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embeddedFontLst>
    <p:embeddedFont>
      <p:font typeface="Tomorrow" panose="020B0604020202020204" charset="0"/>
      <p:regular r:id="rId14"/>
    </p:embeddedFont>
    <p:embeddedFont>
      <p:font typeface="Tomorrow Bold" panose="020B0604020202020204" charset="0"/>
      <p:regular r:id="rId15"/>
    </p:embeddedFont>
    <p:embeddedFont>
      <p:font typeface="Tomorrow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01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53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ARENA CLUB × MONSTER ENERGY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5160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OFFICIAL HYDRATION PARTNERSHIP PROPOSAL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307556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ARENA Club — Association of Recreational Esports and Athletics, IIIT Bhopal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[Fest Name / Season] [Year]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38487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FCFCF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56682" y="46701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Header: ARENA CLUB × MONSTER ENERGY — Footer: Sponsorship Prospectus | IIIT Bhopal | Page 1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7964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Why IIIT Bhopal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380530"/>
            <a:ext cx="2950295" cy="302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IIIT Bhopal presents a focused campus ecosystem with relatively few large, highly active student clubs. That concentration reduces fragmentation of attention and creates meaningful opportunities for brand-led engagement across sports and esports. For a strategic partner, this is an opportunity to build early, recognizable campus association.</a:t>
            </a:r>
            <a:endParaRPr lang="en-US" sz="12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Key message:</a:t>
            </a:r>
            <a:r>
              <a:rPr lang="en-US" sz="12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High potential. Focused campus ecosystem.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014389" y="1411883"/>
            <a:ext cx="2950295" cy="870545"/>
          </a:xfrm>
          <a:prstGeom prst="roundRect">
            <a:avLst>
              <a:gd name="adj" fmla="val 875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95856" y="1593354"/>
            <a:ext cx="2587362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01 FOCUSED CAMPUS ECOSYSTEM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014389" y="2421930"/>
            <a:ext cx="2950295" cy="870545"/>
          </a:xfrm>
          <a:prstGeom prst="roundRect">
            <a:avLst>
              <a:gd name="adj" fmla="val 875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95856" y="2603401"/>
            <a:ext cx="2587362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02 SPORTS &amp; ESPORTS POTENTIAL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014389" y="3431977"/>
            <a:ext cx="2950295" cy="870545"/>
          </a:xfrm>
          <a:prstGeom prst="roundRect">
            <a:avLst>
              <a:gd name="adj" fmla="val 875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95856" y="3613448"/>
            <a:ext cx="2587362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03 STUDENT ENGAGEMENT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014389" y="4442023"/>
            <a:ext cx="2950295" cy="870545"/>
          </a:xfrm>
          <a:prstGeom prst="roundRect">
            <a:avLst>
              <a:gd name="adj" fmla="val 875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95856" y="4623495"/>
            <a:ext cx="2587362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04 BRAND-BUILDING OPPORTUNITY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014389" y="5469533"/>
            <a:ext cx="295029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2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FOCUSED CAMPUS →STUDENT ENGAGEMENT → SPORTS + ESPORTS → BRAND ASSOCIATION</a:t>
            </a:r>
            <a:endParaRPr lang="en-US" sz="1250" dirty="0"/>
          </a:p>
        </p:txBody>
      </p:sp>
      <p:pic>
        <p:nvPicPr>
          <p:cNvPr id="14" name="Picture 13" descr="IIIT Bhopal | Bhopal">
            <a:extLst>
              <a:ext uri="{FF2B5EF4-FFF2-40B4-BE49-F238E27FC236}">
                <a16:creationId xmlns:a16="http://schemas.microsoft.com/office/drawing/2014/main" id="{CB4D036E-C813-D610-06BB-40191014A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1445084"/>
            <a:ext cx="3973785" cy="3973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18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Why ARENA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131888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IIIT Bhopal's Sports &amp; Esports Platform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235" y="1825625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85340" y="1947168"/>
            <a:ext cx="6351230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ARENA is IIIT Bhopal's official sports and esports club. It manages both physical sports and esports activities and is associated with the Sports Secretary / institute sports administration. ARENA oversees registrations, logistics, on-ground execution and digital promotion for its events and teams.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185340" y="3510359"/>
            <a:ext cx="6351230" cy="19050"/>
          </a:xfrm>
          <a:prstGeom prst="roundRect">
            <a:avLst>
              <a:gd name="adj" fmla="val 49999"/>
            </a:avLst>
          </a:prstGeom>
          <a:solidFill>
            <a:srgbClr val="FCFCFB">
              <a:alpha val="5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91980"/>
            <a:ext cx="3515828" cy="17942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14815" y="4222651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4748" y="4788892"/>
            <a:ext cx="312928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SPORTS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54748" y="5157391"/>
            <a:ext cx="312928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Physical sporting activities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934" y="4091980"/>
            <a:ext cx="3515828" cy="17942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91274" y="4222651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31207" y="4788892"/>
            <a:ext cx="312928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ESPORTS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31207" y="5157391"/>
            <a:ext cx="312928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Competitive gaming ecosystem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4392" y="4091980"/>
            <a:ext cx="3515828" cy="17942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67732" y="4222651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207666" y="4788892"/>
            <a:ext cx="312928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207666" y="5157391"/>
            <a:ext cx="312928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Registration • Logistics • Promotion • On-ground execution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356682" y="6066929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Core positioning:</a:t>
            </a:r>
            <a:r>
              <a:rPr lang="en-US" sz="13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One platform connecting physical sports, esports and institute-level sporting activity.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0F8B0B1-5F1F-70FD-0DCA-A55ACC345B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45" b="9696"/>
          <a:stretch>
            <a:fillRect/>
          </a:stretch>
        </p:blipFill>
        <p:spPr>
          <a:xfrm>
            <a:off x="911822" y="1343620"/>
            <a:ext cx="3224083" cy="2841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69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Sporlumina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131987"/>
            <a:ext cx="1086874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Inter-Branch Sports &amp; Esports Meet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661" y="2807295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1147" y="1787525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Event profile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311147" y="2210296"/>
            <a:ext cx="5225423" cy="146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Format: Multi-day</a:t>
            </a: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Scope: Sports + Esports</a:t>
            </a: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Audience: Students / Participants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Activation: On-ground + Digital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11147" y="3891756"/>
            <a:ext cx="5225423" cy="19050"/>
          </a:xfrm>
          <a:prstGeom prst="roundRect">
            <a:avLst>
              <a:gd name="adj" fmla="val 49999"/>
            </a:avLst>
          </a:prstGeom>
          <a:solidFill>
            <a:srgbClr val="FCFCFB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311147" y="4128195"/>
            <a:ext cx="522542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[X+ PARTICIPANTS] • [X+ FOOTFALL] • [X SPORTS] • [X ESPORTS TITLES] • [X DAYS]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11147" y="4825305"/>
            <a:ext cx="5225423" cy="887413"/>
          </a:xfrm>
          <a:prstGeom prst="roundRect">
            <a:avLst>
              <a:gd name="adj" fmla="val 859"/>
            </a:avLst>
          </a:prstGeom>
          <a:solidFill>
            <a:srgbClr val="56780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394" y="5070177"/>
            <a:ext cx="214109" cy="1712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67750" y="5007769"/>
            <a:ext cx="449757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Sporlumina is ARENA's flagship, highest-footfall event of the year (as described in the prospectus).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1475" y="6061968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Sponsorship relevance:</a:t>
            </a: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High-frequency on-ground visibility across a multi-day flagship event.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A35CEE-FA1D-9451-8D0C-319E960EA1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24" t="10596" r="10477"/>
          <a:stretch>
            <a:fillRect/>
          </a:stretch>
        </p:blipFill>
        <p:spPr>
          <a:xfrm>
            <a:off x="635326" y="1826344"/>
            <a:ext cx="5460521" cy="3588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26" y="13017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IEC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7726" y="687627"/>
            <a:ext cx="10868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Inter-Branch Esports Championship (co-hosted with SPARK)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552" y="1919486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59703" y="1926828"/>
            <a:ext cx="5776768" cy="1890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Dedicated esports championship with online registration and structured tournament brackets. IEC delivers a concentrated, digitally engaged student audience — a strategic fit for an energy-drink brand seeking gaming-first activations.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[X+ PARTICIPANTS] • [X+ TEAMS] • [X GAMES / TITLES] • [X+ ONLINE REACH]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726" y="4602411"/>
            <a:ext cx="5345673" cy="16216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24429" y="4360863"/>
            <a:ext cx="21966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69928" y="4955877"/>
            <a:ext cx="492876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Format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9928" y="5348288"/>
            <a:ext cx="4928767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Online registration • Bracketed competition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501" y="4634929"/>
            <a:ext cx="5345773" cy="16216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7501" y="4360863"/>
            <a:ext cx="21966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392901" y="4955877"/>
            <a:ext cx="4928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Audience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392901" y="5348288"/>
            <a:ext cx="492886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Digitally engaged, competition-driven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67726" y="6289079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Key message:</a:t>
            </a:r>
            <a:r>
              <a:rPr lang="en-US" sz="14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Built for a digitally engaged gaming audience.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91873C-3B03-9E56-259F-AACD48522D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34" b="4670"/>
          <a:stretch>
            <a:fillRect/>
          </a:stretch>
        </p:blipFill>
        <p:spPr>
          <a:xfrm>
            <a:off x="1653344" y="1080038"/>
            <a:ext cx="3240657" cy="3661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5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Inter-IIIT Sports Meet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168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IIIT Bhopal's National Sports Contingent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46" y="2841427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2160488"/>
            <a:ext cx="520379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Inter-IIIT Sports Meet is an annual national-level sports meet among IIITs where hosting rotates between member institutes. ARENA organizes and fields IIIT Bhopal's official contingent — handling selection, training, team kits and travel. Sponsorship can extend to kit branding, promotion and travel support tied to the contingent.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537273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FCFCFB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32776" y="482252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 ATHLETES] • [X SPORTS] • [X MEDALS / RESULTS] • [HOST INSTITUTE] • [YEAR]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56682" y="58100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Key message:</a:t>
            </a: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Extending visibility from campus to a national inter-IIIT sporting platform.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98FC0A-3BDD-7B0F-B95C-9F48EFF604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93" t="10230" r="4620"/>
          <a:stretch>
            <a:fillRect/>
          </a:stretch>
        </p:blipFill>
        <p:spPr>
          <a:xfrm>
            <a:off x="871267" y="1925267"/>
            <a:ext cx="4753155" cy="35210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825" y="6944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NIMACK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7825" y="119802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Flagship Cultural Event of IIIT Bhopal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46" y="3098998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29589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Event profile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3443188"/>
            <a:ext cx="5203794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Event: NIMACK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Position: Flagship cultural event of IIIT Bhopal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Audience: Campus-wide student community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Scale: [X+ ATTENDEES] • [X DAYS] • [X+ DIGITAL REACH]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B1A7F7-8835-E8C4-7969-2839582F8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865" y="1604052"/>
            <a:ext cx="3381554" cy="5084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33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Why Partner with ARENA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67234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Partnership pillars drawn from the prospectus — presented as strategic benefits for an Official Hydration Partner.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790502"/>
            <a:ext cx="378708" cy="378718"/>
          </a:xfrm>
          <a:prstGeom prst="roundRect">
            <a:avLst>
              <a:gd name="adj" fmla="val 2012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0099" y="1848346"/>
            <a:ext cx="103401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01 DIRECT PHYSICAL-ACTIVITY AUDIENCE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90099" y="2201267"/>
            <a:ext cx="103401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Athletes and esports players are a highly relevant audience for energy drinks.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2755702"/>
            <a:ext cx="378708" cy="378718"/>
          </a:xfrm>
          <a:prstGeom prst="roundRect">
            <a:avLst>
              <a:gd name="adj" fmla="val 2012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0099" y="2813546"/>
            <a:ext cx="103401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02 MULTI-EVENT, MULTI-MONTH VISIBILITY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90099" y="3166467"/>
            <a:ext cx="103401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Sporlumina, IEC and the Inter-IIIT contingent across the academic year.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720902"/>
            <a:ext cx="378708" cy="378718"/>
          </a:xfrm>
          <a:prstGeom prst="roundRect">
            <a:avLst>
              <a:gd name="adj" fmla="val 2012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0099" y="3778746"/>
            <a:ext cx="103401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03 ON-GROUND ACTIVATION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90099" y="4131667"/>
            <a:ext cx="103401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Stalls, sampling and product-placement opportunities.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686102"/>
            <a:ext cx="378708" cy="378718"/>
          </a:xfrm>
          <a:prstGeom prst="roundRect">
            <a:avLst>
              <a:gd name="adj" fmla="val 2012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0099" y="4743946"/>
            <a:ext cx="103401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04 DIGITAL + PHYSICAL BRAND VISIBILITY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90099" y="5096867"/>
            <a:ext cx="103401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Registration platforms, event flexes, merchandise and social promotion.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651302"/>
            <a:ext cx="378708" cy="378718"/>
          </a:xfrm>
          <a:prstGeom prst="roundRect">
            <a:avLst>
              <a:gd name="adj" fmla="val 2012"/>
            </a:avLst>
          </a:prstGeom>
          <a:solidFill>
            <a:srgbClr val="1F1F1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0099" y="5709146"/>
            <a:ext cx="103401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05 CATEGORY EXCLUSIVITY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90099" y="6062067"/>
            <a:ext cx="103401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Potential exclusive energy-drink category rights, subject to confirmation.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33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The Proposed Partnership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94036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OFFICIAL HYDRATION PARTNER</a:t>
            </a:r>
            <a:r>
              <a:rPr lang="en-US" sz="12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Coverage: SPORLUMINA + IEC + INTER-IIIT CONTINGENT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92598"/>
          <a:ext cx="10868745" cy="3846712"/>
        </p:xfrm>
        <a:graphic>
          <a:graphicData uri="http://schemas.openxmlformats.org/drawingml/2006/table">
            <a:tbl>
              <a:tblPr/>
              <a:tblGrid>
                <a:gridCol w="4347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Benefit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Official Hydration Partner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Exclusive category rights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Logo on event flexes, banners and stage backdrops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Branded hydration stations / stalls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Logo on registration site, certificates and trophies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Branding on contingent kit and travel gear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Social-media promotion &amp; ceremony mentions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Sampling and product placement rights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Right of first refusal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CFCFB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✓</a:t>
                      </a:r>
                      <a:endParaRPr lang="en-US" sz="12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62438" marR="162438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909072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Proposed partnership value:</a:t>
            </a:r>
            <a:r>
              <a:rPr lang="en-US" sz="12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[₹X CASH / PRODUCT CONTRIBUTION / HYBRID DEAL]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534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Past Events &amp; Associations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022251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Reference items from the prospectus (use actual names if provided). If not available, placeholders are used below.</a:t>
            </a:r>
            <a:endParaRPr lang="en-US" sz="850" dirty="0"/>
          </a:p>
        </p:txBody>
      </p:sp>
      <p:sp>
        <p:nvSpPr>
          <p:cNvPr id="7" name="Shape 2"/>
          <p:cNvSpPr/>
          <p:nvPr/>
        </p:nvSpPr>
        <p:spPr>
          <a:xfrm>
            <a:off x="661475" y="503604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FCFCFB">
              <a:alpha val="50000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661475" y="5170785"/>
            <a:ext cx="10868745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Let's talk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61475" y="5538688"/>
            <a:ext cx="10868745" cy="55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“We'd welcome the opportunity to walk your team through this proposal and tailor the partnership to Monster's activation goals.”</a:t>
            </a:r>
            <a:endParaRPr lang="en-US" sz="850" dirty="0"/>
          </a:p>
          <a:p>
            <a:pPr marL="0" indent="0" algn="l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Contact: [NAME] • [ROLE] • [PHONE] • [EMAIL]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ARENA Club IIIT Bhopal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356682" y="6165552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ARENA CLUB × MONSTER ENERGY — OFFICIAL HYDRATION PARTNERSHIP</a:t>
            </a:r>
            <a:endParaRPr lang="en-US" sz="8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1DFAB-7ACC-134A-52E0-46EE44D29AA4}"/>
              </a:ext>
            </a:extLst>
          </p:cNvPr>
          <p:cNvSpPr txBox="1"/>
          <p:nvPr/>
        </p:nvSpPr>
        <p:spPr>
          <a:xfrm>
            <a:off x="785003" y="1926759"/>
            <a:ext cx="36058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5A30A"/>
                </a:solidFill>
                <a:latin typeface="Tomorrow SemiBold" pitchFamily="34" charset="0"/>
              </a:rPr>
              <a:t>BGMI TOURNAMENT</a:t>
            </a:r>
          </a:p>
          <a:p>
            <a:endParaRPr lang="en-US" dirty="0">
              <a:solidFill>
                <a:srgbClr val="75A30A"/>
              </a:solidFill>
              <a:latin typeface="Tomorrow SemiBold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omorrow SemiBold" pitchFamily="34" charset="0"/>
              </a:rPr>
              <a:t>     MONSTER X NODWIN</a:t>
            </a:r>
          </a:p>
          <a:p>
            <a:endParaRPr lang="en-US" dirty="0">
              <a:solidFill>
                <a:schemeClr val="bg1"/>
              </a:solidFill>
              <a:latin typeface="Tomorrow SemiBold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5A30A"/>
                </a:solidFill>
                <a:latin typeface="Tomorrow SemiBold" pitchFamily="34" charset="0"/>
              </a:rPr>
              <a:t>IEC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5A30A"/>
              </a:solidFill>
              <a:latin typeface="Tomorrow SemiBold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omorrow SemiBold" pitchFamily="34" charset="0"/>
              </a:rPr>
              <a:t>      IIIT NETWORK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73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75A30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Next Steps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09005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655961"/>
            <a:ext cx="5243481" cy="19050"/>
          </a:xfrm>
          <a:prstGeom prst="rect">
            <a:avLst/>
          </a:prstGeom>
          <a:solidFill>
            <a:srgbClr val="75A30A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72245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1. Introductory meeting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2146399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Align on objectives and scope.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622252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869208"/>
            <a:ext cx="5243481" cy="19050"/>
          </a:xfrm>
          <a:prstGeom prst="rect">
            <a:avLst/>
          </a:prstGeom>
          <a:solidFill>
            <a:srgbClr val="75A30A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298549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2. Activation plan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1475" y="3359646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Detail on-ground, sampling and digital deliverables.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835499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4082455"/>
            <a:ext cx="5243481" cy="19050"/>
          </a:xfrm>
          <a:prstGeom prst="rect">
            <a:avLst/>
          </a:prstGeom>
          <a:solidFill>
            <a:srgbClr val="75A30A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198739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3. Commercial terms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1475" y="4572893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Finalize cash / product / hybrid contribution.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5048746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5295702"/>
            <a:ext cx="5243481" cy="19050"/>
          </a:xfrm>
          <a:prstGeom prst="rect">
            <a:avLst/>
          </a:prstGeom>
          <a:solidFill>
            <a:srgbClr val="75A30A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411986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CFCF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4. Implementation timeline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1475" y="5786140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Confirm dates, logistics and approvals.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304" y="1959074"/>
            <a:ext cx="1904952" cy="1905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293089" y="4009827"/>
            <a:ext cx="5243481" cy="769144"/>
          </a:xfrm>
          <a:prstGeom prst="roundRect">
            <a:avLst>
              <a:gd name="adj" fmla="val 991"/>
            </a:avLst>
          </a:prstGeom>
          <a:solidFill>
            <a:srgbClr val="567807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553" y="4219377"/>
            <a:ext cx="195654" cy="1564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01672" y="4165501"/>
            <a:ext cx="45784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Header: ARENA CLUB × MONSTER ENERGY — Footer: Sponsorship Prospectus | IIIT Bhopal | Page 10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93089" y="4924723"/>
            <a:ext cx="5243481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CFCF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Closing line:</a:t>
            </a:r>
            <a:r>
              <a:rPr lang="en-US" sz="1200" dirty="0">
                <a:solidFill>
                  <a:srgbClr val="FCFCF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We look forward to discussing how Monster Energy can become ARENA's Official Hydration Partner and unlock year‑round campus moments.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923</Words>
  <Application>Microsoft Office PowerPoint</Application>
  <PresentationFormat>Widescreen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Tomorrow Bold</vt:lpstr>
      <vt:lpstr>Tomorrow Light</vt:lpstr>
      <vt:lpstr>Arial</vt:lpstr>
      <vt:lpstr>Tomorrow SemiBold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 Gupta</dc:creator>
  <cp:lastModifiedBy>Ansh Gupta</cp:lastModifiedBy>
  <cp:revision>2</cp:revision>
  <dcterms:created xsi:type="dcterms:W3CDTF">2026-09-17T04:12:08Z</dcterms:created>
  <dcterms:modified xsi:type="dcterms:W3CDTF">2026-09-17T04:28:08Z</dcterms:modified>
</cp:coreProperties>
</file>